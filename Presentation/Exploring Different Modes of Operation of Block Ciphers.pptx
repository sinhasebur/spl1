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a68120ef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a68120ef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a68120ef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a68120ef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a68120ef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a68120ef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a68120ef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a68120ef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a68120ef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a68120e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294787f9cb2a0d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0294787f9cb2a0d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a68120ef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a68120ef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a68120ef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a68120ef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a68120ef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a68120ef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a68120efd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a68120efd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a68120efd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a68120efd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a68120efd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a68120efd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sinhasebur/SPL1/blob/main/Main/desKnownTextAttack.c" TargetMode="External"/><Relationship Id="rId4" Type="http://schemas.openxmlformats.org/officeDocument/2006/relationships/hyperlink" Target="https://github.com/sinhasebur/SPL1/blob/main/Main/desKnownTextAttack.c" TargetMode="External"/><Relationship Id="rId5" Type="http://schemas.openxmlformats.org/officeDocument/2006/relationships/hyperlink" Target="https://github.com/sinhasebur/SPL1/blob/main/Main/desKnownTextAttack.c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sinhasebur/SPL1/blob/main/Main/MITMattack.c" TargetMode="External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413250" y="830875"/>
            <a:ext cx="8322000" cy="1488900"/>
          </a:xfrm>
          <a:prstGeom prst="rect">
            <a:avLst/>
          </a:prstGeom>
          <a:solidFill>
            <a:srgbClr val="D0E0E3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>
                <a:solidFill>
                  <a:schemeClr val="accent5"/>
                </a:solidFill>
              </a:rPr>
              <a:t>Exploring Different Modes of Operation of Block Ciphers</a:t>
            </a:r>
            <a:endParaRPr sz="7800">
              <a:solidFill>
                <a:schemeClr val="accent5"/>
              </a:solidFill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413250" y="3091000"/>
            <a:ext cx="42603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Presented By: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M.Hasebur Rahman Sinha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BSSE-1620</a:t>
            </a:r>
            <a:endParaRPr b="1" sz="2000"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 flipH="1">
            <a:off x="4572000" y="3091008"/>
            <a:ext cx="40341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Supervisor: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Prof. Dr. Shariful Islam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280500" y="642189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Problem Statement and Objectives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280500" y="1288703"/>
            <a:ext cx="8583000" cy="3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Security depends on how mathematically secure ciphers are used</a:t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# Block ciphers encrypt fixed-size blocks, but real world data is variable</a:t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# Incorrect mode usage leads to</a:t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								Pattern Leakage </a:t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								Replay Vulnerability</a:t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								</a:t>
            </a: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Inefficiency</a:t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My  project is an educational toolkit that emphasizes correct cryptographic usage and mathematics behind ideas, not just algorithms.</a:t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126600" y="588625"/>
            <a:ext cx="89310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5"/>
                </a:solidFill>
              </a:rPr>
              <a:t>Block Cipher</a:t>
            </a:r>
            <a:endParaRPr sz="2300">
              <a:solidFill>
                <a:schemeClr val="accent5"/>
              </a:solidFill>
            </a:endParaRPr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126600" y="1289700"/>
            <a:ext cx="8931000" cy="38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Block Cipher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is an encryption algorithm that takes a fixed-size input (say , b bits) and produces a ciphertext of b bits.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Some Block Ciphers I used,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(64-bit block, legacy)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2DES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cumulative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DES, did not improve DES)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3DES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(security extension of DES)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AES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(modern standard)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Modes of Operation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define how blocks are chained together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188375" y="542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Modes of Operation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225" y="1327900"/>
            <a:ext cx="8485500" cy="3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# ECB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(Electronic CodeBook) – simplest, insecure, padding needed</a:t>
            </a:r>
            <a:b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# CBC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(Cipher Block Chaining)– Sequential. Padding needed, IV needed</a:t>
            </a:r>
            <a:b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#CFB 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(Cipher FeedBack) – Stream-like behavior, Bit by Bit</a:t>
            </a:r>
            <a:b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#OFB </a:t>
            </a:r>
            <a:r>
              <a:rPr lang="en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(Output FeedBack) – Keystream-based, No padding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232900" y="662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ECB (Electronic CodeBook)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258375" y="3188675"/>
            <a:ext cx="4198200" cy="1763400"/>
          </a:xfrm>
          <a:prstGeom prst="rect">
            <a:avLst/>
          </a:prstGeom>
          <a:solidFill>
            <a:srgbClr val="D0E0E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Pros:</a:t>
            </a:r>
            <a:endParaRPr b="1"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Simple 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Parallel Processing Possible (Fast) 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3" name="Google Shape;113;p17" title="ec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613" y="966318"/>
            <a:ext cx="4730526" cy="265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258375" y="1560125"/>
            <a:ext cx="4074000" cy="1266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Properties:</a:t>
            </a:r>
            <a:endParaRPr b="1"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Encrypted Using Same Key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Each block Independently Encoded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4645673" y="3188687"/>
            <a:ext cx="4322400" cy="17634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Cons</a:t>
            </a: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Not Secure For length messages 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Pattern Leak (DEMO 1)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Known-Plaintext Attack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190250" y="0"/>
            <a:ext cx="8037000" cy="1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5"/>
                </a:solidFill>
              </a:rPr>
              <a:t>Pattern Leak</a:t>
            </a:r>
            <a:endParaRPr sz="2300">
              <a:solidFill>
                <a:schemeClr val="accent5"/>
              </a:solidFill>
            </a:endParaRPr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8927"/>
            <a:ext cx="2433450" cy="2237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784509"/>
            <a:ext cx="2459275" cy="226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500" y="547150"/>
            <a:ext cx="3276400" cy="223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6500" y="2875100"/>
            <a:ext cx="3321075" cy="223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33440" y="1438065"/>
            <a:ext cx="1631525" cy="284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64975" y="1433275"/>
            <a:ext cx="1631525" cy="2848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388983" y="650348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</a:rPr>
              <a:t>CBC (Cipher Block Chaining)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283225" y="1498950"/>
            <a:ext cx="3981000" cy="1464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Properties: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# </a:t>
            </a:r>
            <a:r>
              <a:rPr lang="en" sz="1600">
                <a:solidFill>
                  <a:schemeClr val="dk2"/>
                </a:solidFill>
              </a:rPr>
              <a:t>Initialization Vector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#</a:t>
            </a:r>
            <a:r>
              <a:rPr lang="en" sz="1600">
                <a:solidFill>
                  <a:schemeClr val="dk2"/>
                </a:solidFill>
              </a:rPr>
              <a:t> Dependent Blocks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352875" y="3199425"/>
            <a:ext cx="3911400" cy="16833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Pros:</a:t>
            </a:r>
            <a:endParaRPr b="1"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Hide Pattern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Error effect that block and the next one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4378825" y="3199425"/>
            <a:ext cx="4641600" cy="16833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Cons: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Requires Padding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Parallel processing not possible </a:t>
            </a: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(Slow) 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Incorrect Padding may lead to vulnerabilities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p19" title="cb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4263" y="1101250"/>
            <a:ext cx="5074376" cy="209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241200" y="519450"/>
            <a:ext cx="82818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5"/>
                </a:solidFill>
              </a:rPr>
              <a:t>CFB (Cipher FeedBack)</a:t>
            </a:r>
            <a:endParaRPr sz="2300">
              <a:solidFill>
                <a:schemeClr val="accent5"/>
              </a:solidFill>
            </a:endParaRPr>
          </a:p>
        </p:txBody>
      </p:sp>
      <p:pic>
        <p:nvPicPr>
          <p:cNvPr id="142" name="Google Shape;142;p20" title="cf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3000" y="808275"/>
            <a:ext cx="5400274" cy="2510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283225" y="1498950"/>
            <a:ext cx="3981000" cy="1464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Properties: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# </a:t>
            </a:r>
            <a:r>
              <a:rPr lang="en" sz="1600">
                <a:solidFill>
                  <a:schemeClr val="dk2"/>
                </a:solidFill>
              </a:rPr>
              <a:t>Like Stream- Cipher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#</a:t>
            </a:r>
            <a:r>
              <a:rPr lang="en" sz="1600">
                <a:solidFill>
                  <a:schemeClr val="dk2"/>
                </a:solidFill>
              </a:rPr>
              <a:t> </a:t>
            </a:r>
            <a:r>
              <a:rPr lang="en" sz="1600">
                <a:solidFill>
                  <a:schemeClr val="dk2"/>
                </a:solidFill>
              </a:rPr>
              <a:t>Uses IV 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258375" y="3188675"/>
            <a:ext cx="4044300" cy="1763400"/>
          </a:xfrm>
          <a:prstGeom prst="rect">
            <a:avLst/>
          </a:prstGeom>
          <a:solidFill>
            <a:srgbClr val="D0E0E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Pros:</a:t>
            </a:r>
            <a:endParaRPr b="1"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 padding needed</a:t>
            </a:r>
            <a:b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Good for streaming data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Self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Synchronizing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4378825" y="3199425"/>
            <a:ext cx="4641600" cy="16833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Cons: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Slower, not parallelizable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No authentication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More Error Propagation 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241225" y="506725"/>
            <a:ext cx="78333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5"/>
                </a:solidFill>
              </a:rPr>
              <a:t>OFB (Output FeedBack)</a:t>
            </a:r>
            <a:endParaRPr sz="2300">
              <a:solidFill>
                <a:schemeClr val="accent5"/>
              </a:solidFill>
            </a:endParaRPr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241225" y="1334250"/>
            <a:ext cx="8752800" cy="3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Pros:</a:t>
            </a:r>
            <a:endParaRPr b="1"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 padding needed</a:t>
            </a:r>
            <a:b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Good for streaming data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Self Synchronizing 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1" title="of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175" y="869900"/>
            <a:ext cx="4888849" cy="19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283225" y="1404275"/>
            <a:ext cx="3981000" cy="1559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Properties: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# </a:t>
            </a:r>
            <a:r>
              <a:rPr lang="en" sz="1600">
                <a:solidFill>
                  <a:schemeClr val="dk2"/>
                </a:solidFill>
              </a:rPr>
              <a:t>Like Stream- Cipher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#</a:t>
            </a:r>
            <a:r>
              <a:rPr lang="en" sz="1600">
                <a:solidFill>
                  <a:schemeClr val="dk2"/>
                </a:solidFill>
              </a:rPr>
              <a:t> Uses IV  , no padding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#</a:t>
            </a:r>
            <a:r>
              <a:rPr lang="en" sz="1600">
                <a:solidFill>
                  <a:schemeClr val="dk2"/>
                </a:solidFill>
              </a:rPr>
              <a:t> Keystream independent of plaintext/ciphertext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258375" y="3188675"/>
            <a:ext cx="4044300" cy="1763400"/>
          </a:xfrm>
          <a:prstGeom prst="rect">
            <a:avLst/>
          </a:prstGeom>
          <a:solidFill>
            <a:srgbClr val="D0E0E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Pros:</a:t>
            </a:r>
            <a:endParaRPr b="1"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 padding needed</a:t>
            </a:r>
            <a:b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 error Propagation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Keystream pre-computable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4378825" y="3199425"/>
            <a:ext cx="4641600" cy="17634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Cons: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Not Self-synchronizing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No Authentication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258375" y="532175"/>
            <a:ext cx="7688700" cy="7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5"/>
                </a:solidFill>
              </a:rPr>
              <a:t>DES Known Plaintext Attack </a:t>
            </a:r>
            <a:endParaRPr sz="2300">
              <a:solidFill>
                <a:schemeClr val="accent5"/>
              </a:solidFill>
            </a:endParaRPr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330300" y="1302575"/>
            <a:ext cx="8574600" cy="37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DES has a keyspace of  </a:t>
            </a: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baseline="30000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56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which is possible to brute force with modern computers. </a:t>
            </a:r>
            <a:b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If we can guess the plaintext of 1 block, we can use plaintext attack. Other bruteforce is also possible in about </a:t>
            </a: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3 hours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 So DES can be broken. </a:t>
            </a:r>
            <a:b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For demonstration of this attack we may decrease the </a:t>
            </a:r>
            <a:r>
              <a:rPr lang="en"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key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space </a:t>
            </a:r>
            <a:b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Say, 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(0/1) </a:t>
            </a: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(0/1) (0/1) (0/1).. X times     |    0 0 0 … 64-X times </a:t>
            </a:r>
            <a:endParaRPr b="1"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Here, we only need to guess the first X bits, others are 0. So we can simulate this attack without changing algorithm.    </a:t>
            </a:r>
            <a:r>
              <a:rPr lang="en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(</a:t>
            </a:r>
            <a:r>
              <a:rPr b="1" lang="en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DEMO</a:t>
            </a:r>
            <a:r>
              <a:rPr lang="en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)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209325" y="516600"/>
            <a:ext cx="7954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2DES (Double DES)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126625" y="1324350"/>
            <a:ext cx="9096600" cy="3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With 2 DES arranged like this, we get a supposed keyspace of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baseline="30000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112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making it mathematically secure. However, using meet in the middle attack, we can do it in 2</a:t>
            </a:r>
            <a:r>
              <a:rPr baseline="30000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56</a:t>
            </a: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.   </a:t>
            </a:r>
            <a:r>
              <a:rPr b="1"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(DEMO)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802" y="2176900"/>
            <a:ext cx="5239050" cy="253384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6068150" y="2176900"/>
            <a:ext cx="2684100" cy="2144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Main vulnerability is that the middle part X is same in both cases</a:t>
            </a:r>
            <a:endParaRPr b="1"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215725" y="729275"/>
            <a:ext cx="8033400" cy="541200"/>
          </a:xfrm>
          <a:prstGeom prst="rect">
            <a:avLst/>
          </a:prstGeom>
          <a:solidFill>
            <a:srgbClr val="D0E0E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MITM (Meet in the Middle Attack)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215725" y="1353350"/>
            <a:ext cx="3261300" cy="35331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Attacker computes E</a:t>
            </a:r>
            <a:r>
              <a:rPr baseline="-25000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k1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(P)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nd D</a:t>
            </a:r>
            <a:r>
              <a:rPr baseline="-25000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k2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(C) matching to find both the keys in complexity </a:t>
            </a:r>
            <a:b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aseline="30000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57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and not 2</a:t>
            </a:r>
            <a:r>
              <a:rPr baseline="30000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112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3DES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was thus introduced as a safe alternative which has a keyspace of </a:t>
            </a:r>
            <a:r>
              <a:rPr b="1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baseline="30000"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168</a:t>
            </a:r>
            <a:endParaRPr b="1"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7025" y="1562375"/>
            <a:ext cx="5666974" cy="29913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/>
          <p:nvPr/>
        </p:nvSpPr>
        <p:spPr>
          <a:xfrm>
            <a:off x="8026475" y="2772900"/>
            <a:ext cx="1117500" cy="84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754900" y="1337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Thank You!</a:t>
            </a:r>
            <a:endParaRPr sz="4000"/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754898" y="2419372"/>
            <a:ext cx="7688700" cy="1386900"/>
          </a:xfrm>
          <a:prstGeom prst="rect">
            <a:avLst/>
          </a:prstGeom>
          <a:solidFill>
            <a:srgbClr val="C9DAF8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project has been a very good learning experience in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security, design and understanding how small decisions can have significant effects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 have learned a great deal and look forward to implementing improvements in the future.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